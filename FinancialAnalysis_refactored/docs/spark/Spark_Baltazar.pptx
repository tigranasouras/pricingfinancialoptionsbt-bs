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918400" cy="21945600"/>
  <p:notesSz cx="6858000" cy="9144000"/>
  <p:embeddedFontLst>
    <p:embeddedFont>
      <p:font typeface="Libre Baskerville" panose="02000000000000000000" pitchFamily="2" charset="0"/>
      <p:regular r:id="rId3"/>
      <p:bold r:id="rId4"/>
      <p:italic r:id="rId5"/>
    </p:embeddedFont>
    <p:embeddedFont>
      <p:font typeface="Montserrat Light" panose="00000400000000000000" pitchFamily="2" charset="0"/>
      <p:regular r:id="rId6"/>
    </p:embeddedFont>
  </p:embeddedFontLst>
  <p:custDataLst>
    <p:tags r:id="rId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714" kern="1200">
        <a:solidFill>
          <a:schemeClr val="tx1"/>
        </a:solidFill>
        <a:latin typeface="Arial"/>
        <a:ea typeface="+mn-ea"/>
        <a:cs typeface="+mn-cs"/>
      </a:defRPr>
    </a:lvl1pPr>
    <a:lvl2pPr marL="326532" algn="l" rtl="0" fontAlgn="base">
      <a:spcBef>
        <a:spcPct val="0"/>
      </a:spcBef>
      <a:spcAft>
        <a:spcPct val="0"/>
      </a:spcAft>
      <a:defRPr sz="2714" kern="1200">
        <a:solidFill>
          <a:schemeClr val="tx1"/>
        </a:solidFill>
        <a:latin typeface="Arial"/>
        <a:ea typeface="+mn-ea"/>
        <a:cs typeface="+mn-cs"/>
      </a:defRPr>
    </a:lvl2pPr>
    <a:lvl3pPr marL="653064" algn="l" rtl="0" fontAlgn="base">
      <a:spcBef>
        <a:spcPct val="0"/>
      </a:spcBef>
      <a:spcAft>
        <a:spcPct val="0"/>
      </a:spcAft>
      <a:defRPr sz="2714" kern="1200">
        <a:solidFill>
          <a:schemeClr val="tx1"/>
        </a:solidFill>
        <a:latin typeface="Arial"/>
        <a:ea typeface="+mn-ea"/>
        <a:cs typeface="+mn-cs"/>
      </a:defRPr>
    </a:lvl3pPr>
    <a:lvl4pPr marL="979597" algn="l" rtl="0" fontAlgn="base">
      <a:spcBef>
        <a:spcPct val="0"/>
      </a:spcBef>
      <a:spcAft>
        <a:spcPct val="0"/>
      </a:spcAft>
      <a:defRPr sz="2714" kern="1200">
        <a:solidFill>
          <a:schemeClr val="tx1"/>
        </a:solidFill>
        <a:latin typeface="Arial"/>
        <a:ea typeface="+mn-ea"/>
        <a:cs typeface="+mn-cs"/>
      </a:defRPr>
    </a:lvl4pPr>
    <a:lvl5pPr marL="1306129" algn="l" rtl="0" fontAlgn="base">
      <a:spcBef>
        <a:spcPct val="0"/>
      </a:spcBef>
      <a:spcAft>
        <a:spcPct val="0"/>
      </a:spcAft>
      <a:defRPr sz="2714" kern="1200">
        <a:solidFill>
          <a:schemeClr val="tx1"/>
        </a:solidFill>
        <a:latin typeface="Arial"/>
        <a:ea typeface="+mn-ea"/>
        <a:cs typeface="+mn-cs"/>
      </a:defRPr>
    </a:lvl5pPr>
    <a:lvl6pPr marL="1632661" algn="l" defTabSz="653064" rtl="0" eaLnBrk="1" latinLnBrk="0" hangingPunct="1">
      <a:defRPr sz="2714" kern="1200">
        <a:solidFill>
          <a:schemeClr val="tx1"/>
        </a:solidFill>
        <a:latin typeface="Arial"/>
        <a:ea typeface="+mn-ea"/>
        <a:cs typeface="+mn-cs"/>
      </a:defRPr>
    </a:lvl6pPr>
    <a:lvl7pPr marL="1959193" algn="l" defTabSz="653064" rtl="0" eaLnBrk="1" latinLnBrk="0" hangingPunct="1">
      <a:defRPr sz="2714" kern="1200">
        <a:solidFill>
          <a:schemeClr val="tx1"/>
        </a:solidFill>
        <a:latin typeface="Arial"/>
        <a:ea typeface="+mn-ea"/>
        <a:cs typeface="+mn-cs"/>
      </a:defRPr>
    </a:lvl7pPr>
    <a:lvl8pPr marL="2285726" algn="l" defTabSz="653064" rtl="0" eaLnBrk="1" latinLnBrk="0" hangingPunct="1">
      <a:defRPr sz="2714" kern="1200">
        <a:solidFill>
          <a:schemeClr val="tx1"/>
        </a:solidFill>
        <a:latin typeface="Arial"/>
        <a:ea typeface="+mn-ea"/>
        <a:cs typeface="+mn-cs"/>
      </a:defRPr>
    </a:lvl8pPr>
    <a:lvl9pPr marL="2612258" algn="l" defTabSz="653064" rtl="0" eaLnBrk="1" latinLnBrk="0" hangingPunct="1">
      <a:defRPr sz="2714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35" d="100"/>
          <a:sy n="35" d="100"/>
        </p:scale>
        <p:origin x="1830" y="24"/>
      </p:cViewPr>
      <p:guideLst>
        <p:guide orient="horz" pos="6912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6" y="6817784"/>
            <a:ext cx="27979688" cy="470323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3" y="12435417"/>
            <a:ext cx="23043356" cy="5609167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304815" indent="0" algn="ctr">
              <a:buNone/>
              <a:defRPr/>
            </a:lvl2pPr>
            <a:lvl3pPr marL="609630" indent="0" algn="ctr">
              <a:buNone/>
              <a:defRPr/>
            </a:lvl3pPr>
            <a:lvl4pPr marL="914446" indent="0" algn="ctr">
              <a:buNone/>
              <a:defRPr/>
            </a:lvl4pPr>
            <a:lvl5pPr marL="1219261" indent="0" algn="ctr">
              <a:buNone/>
              <a:defRPr/>
            </a:lvl5pPr>
            <a:lvl6pPr marL="1524076" indent="0" algn="ctr">
              <a:buNone/>
              <a:defRPr/>
            </a:lvl6pPr>
            <a:lvl7pPr marL="1828891" indent="0" algn="ctr">
              <a:buNone/>
              <a:defRPr/>
            </a:lvl7pPr>
            <a:lvl8pPr marL="2133707" indent="0" algn="ctr">
              <a:buNone/>
              <a:defRPr/>
            </a:lvl8pPr>
            <a:lvl9pPr marL="243852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8DF5FCE-FDEA-4465-BCF6-C7F63911A9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6170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43242BF-F4C0-49CF-80EA-38D6C064D5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9843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5" y="14102293"/>
            <a:ext cx="27980878" cy="4358217"/>
          </a:xfrm>
        </p:spPr>
        <p:txBody>
          <a:bodyPr anchor="t"/>
          <a:lstStyle>
            <a:defPPr>
              <a:defRPr kern="1200"/>
            </a:defPPr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5" y="9301692"/>
            <a:ext cx="27980878" cy="48006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333"/>
            </a:lvl1pPr>
            <a:lvl2pPr marL="304815" indent="0">
              <a:buNone/>
              <a:defRPr sz="1200"/>
            </a:lvl2pPr>
            <a:lvl3pPr marL="609630" indent="0">
              <a:buNone/>
              <a:defRPr sz="1067"/>
            </a:lvl3pPr>
            <a:lvl4pPr marL="914446" indent="0">
              <a:buNone/>
              <a:defRPr sz="933"/>
            </a:lvl4pPr>
            <a:lvl5pPr marL="1219261" indent="0">
              <a:buNone/>
              <a:defRPr sz="933"/>
            </a:lvl5pPr>
            <a:lvl6pPr marL="1524076" indent="0">
              <a:buNone/>
              <a:defRPr sz="933"/>
            </a:lvl6pPr>
            <a:lvl7pPr marL="1828891" indent="0">
              <a:buNone/>
              <a:defRPr sz="933"/>
            </a:lvl7pPr>
            <a:lvl8pPr marL="2133707" indent="0">
              <a:buNone/>
              <a:defRPr sz="933"/>
            </a:lvl8pPr>
            <a:lvl9pPr marL="2438522" indent="0">
              <a:buNone/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29423EF-61E0-492B-A58A-8462960B8B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7207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444" y="5120217"/>
            <a:ext cx="14756606" cy="14484350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4350"/>
          </a:xfrm>
        </p:spPr>
        <p:txBody>
          <a:bodyPr/>
          <a:lstStyle>
            <a:defPPr>
              <a:defRPr kern="1200"/>
            </a:defPPr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0F45B66-FD4B-43D3-97DD-29BBADAFE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5441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784"/>
            <a:ext cx="14544675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0"/>
            <a:ext cx="14544675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28" y="4912784"/>
            <a:ext cx="14550630" cy="204681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28" y="6959600"/>
            <a:ext cx="14550630" cy="12643908"/>
          </a:xfrm>
        </p:spPr>
        <p:txBody>
          <a:bodyPr/>
          <a:lstStyle>
            <a:defPPr>
              <a:defRPr kern="1200"/>
            </a:defPPr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134DC469-4A79-40F8-9FD1-29BC04AA7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6822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77ED9D9-385C-4EF3-825C-DD7EC451E0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49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D843B82-F4E2-4569-B1E8-B9E053E8F4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20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4184"/>
            <a:ext cx="10829925" cy="3717925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6" y="874184"/>
            <a:ext cx="18402300" cy="18729325"/>
          </a:xfrm>
        </p:spPr>
        <p:txBody>
          <a:bodyPr/>
          <a:lstStyle>
            <a:defPPr>
              <a:defRPr kern="1200"/>
            </a:defPPr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4" y="4592109"/>
            <a:ext cx="10829925" cy="150114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3D2E94D-57D8-45DE-BBE8-59CBB7A5E3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65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997" y="15361709"/>
            <a:ext cx="19751280" cy="1813983"/>
          </a:xfrm>
        </p:spPr>
        <p:txBody>
          <a:bodyPr anchor="b"/>
          <a:lstStyle>
            <a:defPPr>
              <a:defRPr kern="1200"/>
            </a:defPPr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1997" y="1961092"/>
            <a:ext cx="19751280" cy="131667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1997" y="17175693"/>
            <a:ext cx="19751280" cy="257492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1FD068A-1390-4726-BE45-AB18C473BC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8895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E3CA81D-4204-48B1-A4D7-36EFD127B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5094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6080" y="878417"/>
            <a:ext cx="7406878" cy="1872615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444" y="878417"/>
            <a:ext cx="22106334" cy="1872615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1D08C6D-384C-4677-A8CE-0D580832C4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4977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4" y="878417"/>
            <a:ext cx="29627512" cy="36576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45444" y="5120217"/>
            <a:ext cx="14756606" cy="1448435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2" y="5120217"/>
            <a:ext cx="14756606" cy="14484350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947A3F5-B070-47AF-A223-F33332FE8B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6196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45444" y="878417"/>
            <a:ext cx="296275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45444" y="5120217"/>
            <a:ext cx="29627512" cy="144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45444" y="19985568"/>
            <a:ext cx="7681913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644" y="19985568"/>
            <a:ext cx="10425113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4" y="19985568"/>
            <a:ext cx="7681913" cy="152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470254" tIns="235127" rIns="470254" bIns="23512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>
              <a:defRPr sz="4734" smtClean="0">
                <a:latin typeface="Arial" pitchFamily="34" charset="0"/>
              </a:defRPr>
            </a:lvl1pPr>
          </a:lstStyle>
          <a:p>
            <a:pPr>
              <a:defRPr/>
            </a:pPr>
            <a:fld id="{D74CA0E6-19C8-4E24-ACA2-24DF946E6C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09728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29718000" y="109728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1460500" y="224536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60500" y="230251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intellectualsage  Size: 36x24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+mj-lt"/>
          <a:ea typeface="+mj-ea"/>
          <a:cs typeface="+mj-cs"/>
        </a:defRPr>
      </a:lvl1pPr>
      <a:lvl2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2pPr>
      <a:lvl3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3pPr>
      <a:lvl4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4pPr>
      <a:lvl5pPr algn="ctr" defTabSz="3135999" rtl="0" eaLnBrk="0" fontAlgn="base" hangingPunct="0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5pPr>
      <a:lvl6pPr marL="304815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6pPr>
      <a:lvl7pPr marL="609630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7pPr>
      <a:lvl8pPr marL="914446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8pPr>
      <a:lvl9pPr marL="1219261" algn="ctr" defTabSz="3135999" rtl="0" fontAlgn="base">
        <a:spcBef>
          <a:spcPct val="0"/>
        </a:spcBef>
        <a:spcAft>
          <a:spcPct val="0"/>
        </a:spcAft>
        <a:defRPr sz="15134">
          <a:solidFill>
            <a:schemeClr val="tx2"/>
          </a:solidFill>
          <a:latin typeface="Arial"/>
        </a:defRPr>
      </a:lvl9pPr>
    </p:titleStyle>
    <p:bodyStyle>
      <a:defPPr>
        <a:defRPr kern="1200"/>
      </a:defPPr>
      <a:lvl1pPr marL="1174809" indent="-1174809" algn="l" defTabSz="3135999" rtl="0" eaLnBrk="0" fontAlgn="base" hangingPunct="0">
        <a:spcBef>
          <a:spcPct val="20000"/>
        </a:spcBef>
        <a:spcAft>
          <a:spcPct val="0"/>
        </a:spcAft>
        <a:buChar char="•"/>
        <a:defRPr sz="11001">
          <a:solidFill>
            <a:schemeClr val="tx1"/>
          </a:solidFill>
          <a:latin typeface="+mn-lt"/>
          <a:ea typeface="+mn-ea"/>
          <a:cs typeface="+mn-cs"/>
        </a:defRPr>
      </a:lvl1pPr>
      <a:lvl2pPr marL="2548594" indent="-981124" algn="l" defTabSz="3135999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</a:defRPr>
      </a:lvl2pPr>
      <a:lvl3pPr marL="3919205" indent="-783206" algn="l" defTabSz="3135999" rtl="0" eaLnBrk="0" fontAlgn="base" hangingPunct="0">
        <a:spcBef>
          <a:spcPct val="20000"/>
        </a:spcBef>
        <a:spcAft>
          <a:spcPct val="0"/>
        </a:spcAft>
        <a:buChar char="•"/>
        <a:defRPr sz="8267">
          <a:solidFill>
            <a:schemeClr val="tx1"/>
          </a:solidFill>
          <a:latin typeface="+mn-lt"/>
        </a:defRPr>
      </a:lvl3pPr>
      <a:lvl4pPr marL="5486674" indent="-783206" algn="l" defTabSz="3135999" rtl="0" eaLnBrk="0" fontAlgn="base" hangingPunct="0">
        <a:spcBef>
          <a:spcPct val="20000"/>
        </a:spcBef>
        <a:spcAft>
          <a:spcPct val="0"/>
        </a:spcAft>
        <a:buChar char="–"/>
        <a:defRPr sz="6867">
          <a:solidFill>
            <a:schemeClr val="tx1"/>
          </a:solidFill>
          <a:latin typeface="+mn-lt"/>
        </a:defRPr>
      </a:lvl4pPr>
      <a:lvl5pPr marL="7055203" indent="-784265" algn="l" defTabSz="3135999" rtl="0" eaLnBrk="0" fontAlgn="base" hangingPunct="0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5pPr>
      <a:lvl6pPr marL="7360018" indent="-784265" algn="l" defTabSz="3135999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6pPr>
      <a:lvl7pPr marL="7664833" indent="-784265" algn="l" defTabSz="3135999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7pPr>
      <a:lvl8pPr marL="7969648" indent="-784265" algn="l" defTabSz="3135999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8pPr>
      <a:lvl9pPr marL="8274464" indent="-784265" algn="l" defTabSz="3135999" rtl="0" fontAlgn="base">
        <a:spcBef>
          <a:spcPct val="20000"/>
        </a:spcBef>
        <a:spcAft>
          <a:spcPct val="0"/>
        </a:spcAft>
        <a:buChar char="»"/>
        <a:defRPr sz="68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BCDCDE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406F193C-8566-41B6-8625-E7C934BB073C}"/>
              </a:ext>
            </a:extLst>
          </p:cNvPr>
          <p:cNvSpPr/>
          <p:nvPr/>
        </p:nvSpPr>
        <p:spPr bwMode="auto">
          <a:xfrm>
            <a:off x="381000" y="457200"/>
            <a:ext cx="32327628" cy="4269360"/>
          </a:xfrm>
          <a:prstGeom prst="round2DiagRect">
            <a:avLst/>
          </a:prstGeom>
          <a:solidFill>
            <a:srgbClr val="4380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0960" tIns="30480" rIns="60960" bIns="30480" numCol="1" rtlCol="0" anchor="t" anchorCtr="0" compatLnSpc="1">
            <a:prstTxWarp prst="textNoShape">
              <a:avLst/>
            </a:prstTxWarp>
          </a:bodyPr>
          <a:lstStyle/>
          <a:p>
            <a:pPr defTabSz="3135999"/>
            <a:endParaRPr lang="en-US" sz="2533">
              <a:latin typeface="Arial"/>
            </a:endParaRP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899652" y="644170"/>
            <a:ext cx="31119096" cy="183129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0" dirty="0">
                <a:solidFill>
                  <a:schemeClr val="bg1"/>
                </a:solidFill>
                <a:latin typeface="Libre Baskerville" panose="02000000000000000000" pitchFamily="2" charset="0"/>
              </a:rPr>
              <a:t>Interactive Option Pricing and Hedging Dashboard</a:t>
            </a:r>
          </a:p>
          <a:p>
            <a:pPr algn="ctr"/>
            <a:r>
              <a:rPr lang="en-US" sz="6000" dirty="0">
                <a:solidFill>
                  <a:srgbClr val="FFC000"/>
                </a:solidFill>
                <a:latin typeface="Libre Baskerville" panose="02000000000000000000" pitchFamily="2" charset="0"/>
              </a:rPr>
              <a:t>Turning Market Data into Smarter Financial decisions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808072" y="2773805"/>
            <a:ext cx="31119096" cy="1743230"/>
          </a:xfrm>
          <a:prstGeom prst="rect">
            <a:avLst/>
          </a:prstGeom>
        </p:spPr>
        <p:txBody>
          <a:bodyPr lIns="85344" tIns="42672" rIns="85344" bIns="42672"/>
          <a:lstStyle>
            <a:defPPr>
              <a:defRPr lang="en-US"/>
            </a:defPPr>
            <a:lvl1pPr marL="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03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0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12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160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199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23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277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318" algn="l" defTabSz="4388077" rtl="0" eaLnBrk="1" latinLnBrk="0" hangingPunct="1">
              <a:defRPr sz="86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dirty="0">
                <a:solidFill>
                  <a:schemeClr val="bg1"/>
                </a:solidFill>
                <a:latin typeface="Montserrat Light" panose="00000400000000000000" pitchFamily="50" charset="0"/>
              </a:rPr>
              <a:t>Daron Baltazar, Christina Davis PHD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Montserrat Light" panose="00000400000000000000" pitchFamily="50" charset="0"/>
              </a:rPr>
              <a:t>Belmont University – Finance &amp; Computer Science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Montserrat Light" panose="00000400000000000000" pitchFamily="50" charset="0"/>
              </a:rPr>
              <a:t>Support prototype using CRR Binomial trees, Black-Scholes, and live market data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33A929B9-4AE7-4535-8E25-5C0801DF2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44" y="5920290"/>
            <a:ext cx="3759322" cy="139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Build an interactive system to price financial options using real market data</a:t>
            </a:r>
          </a:p>
          <a:p>
            <a:pPr algn="just">
              <a:lnSpc>
                <a:spcPct val="110000"/>
              </a:lnSpc>
            </a:pPr>
            <a:endParaRPr lang="en-US" sz="2000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700EFA-F39A-4B67-A41D-B592D129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01" y="5217230"/>
            <a:ext cx="5449599" cy="57287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Objective</a:t>
            </a:r>
          </a:p>
        </p:txBody>
      </p:sp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40DFA735-CFB8-A1B8-A902-E4685C6EE4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372" y="20558774"/>
            <a:ext cx="914400" cy="914400"/>
          </a:xfrm>
          <a:prstGeom prst="rect">
            <a:avLst/>
          </a:prstGeom>
        </p:spPr>
      </p:pic>
      <p:pic>
        <p:nvPicPr>
          <p:cNvPr id="11" name="Graphic 10" descr="Bar chart outline">
            <a:extLst>
              <a:ext uri="{FF2B5EF4-FFF2-40B4-BE49-F238E27FC236}">
                <a16:creationId xmlns:a16="http://schemas.microsoft.com/office/drawing/2014/main" id="{9BBC37AA-8F62-0C6F-D989-F174DB41C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04737" y="12080403"/>
            <a:ext cx="914400" cy="914400"/>
          </a:xfrm>
          <a:prstGeom prst="rect">
            <a:avLst/>
          </a:prstGeom>
        </p:spPr>
      </p:pic>
      <p:pic>
        <p:nvPicPr>
          <p:cNvPr id="13" name="Graphic 12" descr="Bar graph with upward trend with solid fill">
            <a:extLst>
              <a:ext uri="{FF2B5EF4-FFF2-40B4-BE49-F238E27FC236}">
                <a16:creationId xmlns:a16="http://schemas.microsoft.com/office/drawing/2014/main" id="{9EFFCD28-14C1-5A61-7F36-58D43A629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01" y="5920290"/>
            <a:ext cx="914400" cy="914400"/>
          </a:xfrm>
          <a:prstGeom prst="rect">
            <a:avLst/>
          </a:prstGeom>
        </p:spPr>
      </p:pic>
      <p:pic>
        <p:nvPicPr>
          <p:cNvPr id="15" name="Graphic 14" descr="Supply And Demand outline">
            <a:extLst>
              <a:ext uri="{FF2B5EF4-FFF2-40B4-BE49-F238E27FC236}">
                <a16:creationId xmlns:a16="http://schemas.microsoft.com/office/drawing/2014/main" id="{89564C68-606D-7714-6150-CB2A6CCD6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16283" y="12073878"/>
            <a:ext cx="914400" cy="914400"/>
          </a:xfrm>
          <a:prstGeom prst="rect">
            <a:avLst/>
          </a:prstGeom>
        </p:spPr>
      </p:pic>
      <p:pic>
        <p:nvPicPr>
          <p:cNvPr id="17" name="Graphic 16" descr="Hierarchy outline">
            <a:extLst>
              <a:ext uri="{FF2B5EF4-FFF2-40B4-BE49-F238E27FC236}">
                <a16:creationId xmlns:a16="http://schemas.microsoft.com/office/drawing/2014/main" id="{73618C61-495C-87FB-4F38-97C0D9270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04823" y="12000587"/>
            <a:ext cx="914400" cy="914400"/>
          </a:xfrm>
          <a:prstGeom prst="rect">
            <a:avLst/>
          </a:prstGeom>
        </p:spPr>
      </p:pic>
      <p:pic>
        <p:nvPicPr>
          <p:cNvPr id="35" name="Graphic 34" descr="Calculator outline">
            <a:extLst>
              <a:ext uri="{FF2B5EF4-FFF2-40B4-BE49-F238E27FC236}">
                <a16:creationId xmlns:a16="http://schemas.microsoft.com/office/drawing/2014/main" id="{341DA70C-888D-70F2-B08C-987689BAF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16369" y="12036354"/>
            <a:ext cx="914400" cy="914400"/>
          </a:xfrm>
          <a:prstGeom prst="rect">
            <a:avLst/>
          </a:prstGeom>
        </p:spPr>
      </p:pic>
      <p:pic>
        <p:nvPicPr>
          <p:cNvPr id="37" name="Graphic 36" descr="Magnifying glass outline">
            <a:extLst>
              <a:ext uri="{FF2B5EF4-FFF2-40B4-BE49-F238E27FC236}">
                <a16:creationId xmlns:a16="http://schemas.microsoft.com/office/drawing/2014/main" id="{AD836286-F449-FB9B-A0AD-AFD43C579E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3158" y="11981315"/>
            <a:ext cx="914400" cy="914400"/>
          </a:xfrm>
          <a:prstGeom prst="rect">
            <a:avLst/>
          </a:prstGeom>
        </p:spPr>
      </p:pic>
      <p:pic>
        <p:nvPicPr>
          <p:cNvPr id="39" name="Graphic 38" descr="Download from cloud with solid fill">
            <a:extLst>
              <a:ext uri="{FF2B5EF4-FFF2-40B4-BE49-F238E27FC236}">
                <a16:creationId xmlns:a16="http://schemas.microsoft.com/office/drawing/2014/main" id="{928C2602-1C7E-3E53-CE3D-B026472D36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63373" y="11966825"/>
            <a:ext cx="914400" cy="914400"/>
          </a:xfrm>
          <a:prstGeom prst="rect">
            <a:avLst/>
          </a:prstGeom>
        </p:spPr>
      </p:pic>
      <p:pic>
        <p:nvPicPr>
          <p:cNvPr id="47" name="Graphic 46" descr="Safe with solid fill">
            <a:extLst>
              <a:ext uri="{FF2B5EF4-FFF2-40B4-BE49-F238E27FC236}">
                <a16:creationId xmlns:a16="http://schemas.microsoft.com/office/drawing/2014/main" id="{089C534B-93DA-2F3D-B485-265511751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965" y="8334692"/>
            <a:ext cx="914400" cy="914400"/>
          </a:xfrm>
          <a:prstGeom prst="rect">
            <a:avLst/>
          </a:prstGeom>
        </p:spPr>
      </p:pic>
      <p:pic>
        <p:nvPicPr>
          <p:cNvPr id="49" name="Graphic 48" descr="Scales of justice with solid fill">
            <a:extLst>
              <a:ext uri="{FF2B5EF4-FFF2-40B4-BE49-F238E27FC236}">
                <a16:creationId xmlns:a16="http://schemas.microsoft.com/office/drawing/2014/main" id="{AE87CBDE-99F9-3B6F-A2C6-77C6035D4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001" y="7133048"/>
            <a:ext cx="914400" cy="914400"/>
          </a:xfrm>
          <a:prstGeom prst="rect">
            <a:avLst/>
          </a:prstGeom>
        </p:spPr>
      </p:pic>
      <p:sp>
        <p:nvSpPr>
          <p:cNvPr id="2" name="TextBox 19">
            <a:extLst>
              <a:ext uri="{FF2B5EF4-FFF2-40B4-BE49-F238E27FC236}">
                <a16:creationId xmlns:a16="http://schemas.microsoft.com/office/drawing/2014/main" id="{E317840E-B2F9-FFD8-3D19-B924B5358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644" y="7201268"/>
            <a:ext cx="3352800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Compare numerical (Binomial) vs. Theoretical (Black-Scholes) models.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FF77D8E5-16AD-12A8-6AFC-78B3ED72F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44" y="8402912"/>
            <a:ext cx="3352800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Translate model outputs into risk management insights (hedging)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C45244-3BF9-F104-8F1E-597AEFE71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01" y="9784327"/>
            <a:ext cx="5561571" cy="4640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Data &amp; Inputs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4512E14A-4F16-480B-5989-87B46A96E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99" y="10384183"/>
            <a:ext cx="5018186" cy="257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Stock Data: Yahoo Finance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Risk-free rate: FRED (Treasury yields)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Volatility: Historical estimation from returns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2696CB8E-B7D5-72E5-C1E9-27040B387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54" y="12565708"/>
            <a:ext cx="3200400" cy="521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900" b="1" dirty="0">
                <a:latin typeface="Montserrat Light" panose="00000400000000000000" pitchFamily="50" charset="0"/>
                <a:cs typeface="Arial" pitchFamily="34" charset="0"/>
              </a:rPr>
              <a:t>Key Inputs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D57035E3-6EF5-7085-8523-C9DE883F5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87" y="13087312"/>
            <a:ext cx="3991476" cy="2775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Spot price (S₀)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Strike Price (K)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Time to Maturity (T)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Volatility (σ)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Risk-Free Rate (r)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Montserrat Light" panose="00000400000000000000" pitchFamily="50" charset="0"/>
                <a:cs typeface="Arial" pitchFamily="34" charset="0"/>
              </a:rPr>
              <a:t>Dividend Yield (q)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26E8FE-93DC-BB56-638A-627D647EF4AF}"/>
              </a:ext>
            </a:extLst>
          </p:cNvPr>
          <p:cNvSpPr/>
          <p:nvPr/>
        </p:nvSpPr>
        <p:spPr bwMode="auto">
          <a:xfrm>
            <a:off x="225506" y="16059332"/>
            <a:ext cx="5186008" cy="2918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0829F4E6-4851-0357-7CA5-DC0A6089D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244" y="16634655"/>
            <a:ext cx="5017270" cy="2373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Spot price (S₀)		98.3</a:t>
            </a:r>
          </a:p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Strike Price (K)		111.00</a:t>
            </a:r>
          </a:p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Time to Maturity (T)	121 days</a:t>
            </a:r>
          </a:p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Volatility (σ)			26.5%</a:t>
            </a:r>
          </a:p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Risk-Free Rate (r)		4.50%</a:t>
            </a:r>
          </a:p>
          <a:p>
            <a:pPr>
              <a:lnSpc>
                <a:spcPct val="110000"/>
              </a:lnSpc>
            </a:pPr>
            <a:r>
              <a:rPr lang="en-US" sz="2300" dirty="0">
                <a:latin typeface="Montserrat Light" panose="00000400000000000000" pitchFamily="50" charset="0"/>
                <a:cs typeface="Arial" pitchFamily="34" charset="0"/>
              </a:rPr>
              <a:t>Dividend Yield (q)		0.00%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13487847-347C-BA97-4F94-3126197FC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01" y="16139537"/>
            <a:ext cx="4619138" cy="410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200" b="1" dirty="0">
                <a:latin typeface="Montserrat Light" panose="00000400000000000000" pitchFamily="50" charset="0"/>
                <a:cs typeface="Arial" pitchFamily="34" charset="0"/>
              </a:rPr>
              <a:t>Example Inputs (PUT OPTION)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0690C1-3E57-CB81-4A76-6A48549EB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851" y="19957685"/>
            <a:ext cx="8614053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25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PRACTICAL INSIGHT: HEDGING WITH DELTA</a:t>
            </a:r>
          </a:p>
        </p:txBody>
      </p:sp>
      <p:sp>
        <p:nvSpPr>
          <p:cNvPr id="38" name="TextBox 19">
            <a:extLst>
              <a:ext uri="{FF2B5EF4-FFF2-40B4-BE49-F238E27FC236}">
                <a16:creationId xmlns:a16="http://schemas.microsoft.com/office/drawing/2014/main" id="{2DC569BF-FB4A-50EC-65F9-65A0CF50C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9921" y="20589135"/>
            <a:ext cx="8309264" cy="750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Delta Measures the sensitivity of the option price to changes in the underlying stock price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0B6F84-3E4B-2F50-3413-8573A80EC43F}"/>
              </a:ext>
            </a:extLst>
          </p:cNvPr>
          <p:cNvSpPr/>
          <p:nvPr/>
        </p:nvSpPr>
        <p:spPr bwMode="auto">
          <a:xfrm>
            <a:off x="5099528" y="21108803"/>
            <a:ext cx="4401364" cy="5753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CC71CFB4-630C-C099-0CE5-7D58A52D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9874" y="21158082"/>
            <a:ext cx="4401364" cy="45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500" b="1" dirty="0">
                <a:latin typeface="Montserrat Light" panose="00000400000000000000" pitchFamily="50" charset="0"/>
                <a:cs typeface="Arial" pitchFamily="34" charset="0"/>
              </a:rPr>
              <a:t>Shares to Hedge = △ * 100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E6283A-A643-5D2F-4EC8-4D0AF5C7B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043" y="5150570"/>
            <a:ext cx="9596388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       MODELS &amp; METHODS</a:t>
            </a:r>
          </a:p>
        </p:txBody>
      </p:sp>
      <p:pic>
        <p:nvPicPr>
          <p:cNvPr id="46" name="Graphic 45" descr="Database outline">
            <a:extLst>
              <a:ext uri="{FF2B5EF4-FFF2-40B4-BE49-F238E27FC236}">
                <a16:creationId xmlns:a16="http://schemas.microsoft.com/office/drawing/2014/main" id="{A690632E-D83A-25EB-AB16-9163C574F1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10381" y="10871725"/>
            <a:ext cx="914400" cy="9144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9A4A363-F8D6-1293-6CCD-CA15B86F4FD1}"/>
              </a:ext>
            </a:extLst>
          </p:cNvPr>
          <p:cNvSpPr/>
          <p:nvPr/>
        </p:nvSpPr>
        <p:spPr bwMode="auto">
          <a:xfrm>
            <a:off x="7145028" y="6531065"/>
            <a:ext cx="4419600" cy="17848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TextBox 19">
            <a:extLst>
              <a:ext uri="{FF2B5EF4-FFF2-40B4-BE49-F238E27FC236}">
                <a16:creationId xmlns:a16="http://schemas.microsoft.com/office/drawing/2014/main" id="{20CCC9D9-A41D-CA6F-2F03-AE3A34EC1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9871" y="6579703"/>
            <a:ext cx="4529987" cy="181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Discrete-time simulation of stock price paths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Recombining tree structure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Backward induction for pricing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Handles American options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BCBDB38-5F0D-3747-9760-05E90012C82A}"/>
              </a:ext>
            </a:extLst>
          </p:cNvPr>
          <p:cNvSpPr/>
          <p:nvPr/>
        </p:nvSpPr>
        <p:spPr bwMode="auto">
          <a:xfrm>
            <a:off x="7145028" y="6086769"/>
            <a:ext cx="4419600" cy="4442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TextBox 19">
            <a:extLst>
              <a:ext uri="{FF2B5EF4-FFF2-40B4-BE49-F238E27FC236}">
                <a16:creationId xmlns:a16="http://schemas.microsoft.com/office/drawing/2014/main" id="{D42AF5DB-586A-E0B1-FD1C-5A70FA8DD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750" y="6126723"/>
            <a:ext cx="3474786" cy="45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500" b="1" dirty="0">
                <a:latin typeface="Montserrat Light" panose="00000400000000000000" pitchFamily="50" charset="0"/>
                <a:cs typeface="Arial" pitchFamily="34" charset="0"/>
              </a:rPr>
              <a:t>CRR Binomial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831644A-10BD-8043-D21D-9BCCC36E1459}"/>
              </a:ext>
            </a:extLst>
          </p:cNvPr>
          <p:cNvSpPr/>
          <p:nvPr/>
        </p:nvSpPr>
        <p:spPr bwMode="auto">
          <a:xfrm>
            <a:off x="11792258" y="6512682"/>
            <a:ext cx="4419600" cy="17848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TextBox 19">
            <a:extLst>
              <a:ext uri="{FF2B5EF4-FFF2-40B4-BE49-F238E27FC236}">
                <a16:creationId xmlns:a16="http://schemas.microsoft.com/office/drawing/2014/main" id="{C094ECDF-2FF4-DA7F-7D49-62A87D4C5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68458" y="6543043"/>
            <a:ext cx="4114800" cy="181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Continuous-time closed-form solution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Used as a Benchmark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Montserrat Light" panose="00000400000000000000" pitchFamily="50" charset="0"/>
                <a:cs typeface="Arial" pitchFamily="34" charset="0"/>
              </a:rPr>
              <a:t>European option assumptions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4970DFA-9874-B049-1623-CC2D47DB1F12}"/>
              </a:ext>
            </a:extLst>
          </p:cNvPr>
          <p:cNvSpPr/>
          <p:nvPr/>
        </p:nvSpPr>
        <p:spPr bwMode="auto">
          <a:xfrm>
            <a:off x="11802702" y="6068347"/>
            <a:ext cx="4419600" cy="44429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TextBox 19">
            <a:extLst>
              <a:ext uri="{FF2B5EF4-FFF2-40B4-BE49-F238E27FC236}">
                <a16:creationId xmlns:a16="http://schemas.microsoft.com/office/drawing/2014/main" id="{886E9DAC-32EB-6616-03B7-F5400B010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0200" y="6109816"/>
            <a:ext cx="4164508" cy="45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500" b="1" dirty="0">
                <a:latin typeface="Montserrat Light" panose="00000400000000000000" pitchFamily="50" charset="0"/>
                <a:cs typeface="Arial" pitchFamily="34" charset="0"/>
              </a:rPr>
              <a:t>BLACK-SCHOLES MODEL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82FB864-A8FA-AB1F-61A9-8194AA0F052C}"/>
              </a:ext>
            </a:extLst>
          </p:cNvPr>
          <p:cNvSpPr/>
          <p:nvPr/>
        </p:nvSpPr>
        <p:spPr bwMode="auto">
          <a:xfrm>
            <a:off x="7087018" y="8582720"/>
            <a:ext cx="9314172" cy="21615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2" name="TextBox 19">
            <a:extLst>
              <a:ext uri="{FF2B5EF4-FFF2-40B4-BE49-F238E27FC236}">
                <a16:creationId xmlns:a16="http://schemas.microsoft.com/office/drawing/2014/main" id="{A3BEDBB7-5257-4760-4B83-E753EF469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4427" y="8771572"/>
            <a:ext cx="4904495" cy="537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b="1" dirty="0">
                <a:latin typeface="Montserrat Light" panose="00000400000000000000" pitchFamily="50" charset="0"/>
                <a:cs typeface="Arial" pitchFamily="34" charset="0"/>
              </a:rPr>
              <a:t>V = max(hold, exercise)</a:t>
            </a:r>
          </a:p>
        </p:txBody>
      </p:sp>
      <p:sp>
        <p:nvSpPr>
          <p:cNvPr id="63" name="TextBox 19">
            <a:extLst>
              <a:ext uri="{FF2B5EF4-FFF2-40B4-BE49-F238E27FC236}">
                <a16:creationId xmlns:a16="http://schemas.microsoft.com/office/drawing/2014/main" id="{074FE565-E619-DEE9-B44F-7203A24160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1746" y="9434797"/>
            <a:ext cx="5578343" cy="48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7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 Light" panose="00000400000000000000" pitchFamily="50" charset="0"/>
                <a:cs typeface="Arial" pitchFamily="34" charset="0"/>
              </a:rPr>
              <a:t>American Option Decision Rule</a:t>
            </a:r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CEB79C45-6084-3028-D71F-730EAFDB7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7613" y="10231100"/>
            <a:ext cx="4253105" cy="40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200" b="1" dirty="0">
                <a:latin typeface="Montserrat Light" panose="00000400000000000000" pitchFamily="50" charset="0"/>
                <a:cs typeface="Arial" pitchFamily="34" charset="0"/>
              </a:rPr>
              <a:t>Hold </a:t>
            </a:r>
            <a:r>
              <a:rPr lang="en-US" sz="2200" b="1" dirty="0">
                <a:latin typeface="Montserrat Light" panose="00000400000000000000" pitchFamily="50" charset="0"/>
                <a:cs typeface="Arial" pitchFamily="34" charset="0"/>
                <a:sym typeface="Wingdings" panose="05000000000000000000" pitchFamily="2" charset="2"/>
              </a:rPr>
              <a:t> Expected future value</a:t>
            </a:r>
            <a:endParaRPr lang="en-US" sz="2200" b="1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65" name="TextBox 19">
            <a:extLst>
              <a:ext uri="{FF2B5EF4-FFF2-40B4-BE49-F238E27FC236}">
                <a16:creationId xmlns:a16="http://schemas.microsoft.com/office/drawing/2014/main" id="{CEA664AE-F6CE-714C-D474-A368D4694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4738" y="10212786"/>
            <a:ext cx="4430044" cy="409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200" b="1" dirty="0">
                <a:latin typeface="Montserrat Light" panose="00000400000000000000" pitchFamily="50" charset="0"/>
                <a:cs typeface="Arial" pitchFamily="34" charset="0"/>
              </a:rPr>
              <a:t>Exercise </a:t>
            </a:r>
            <a:r>
              <a:rPr lang="en-US" sz="2200" b="1" dirty="0">
                <a:latin typeface="Montserrat Light" panose="00000400000000000000" pitchFamily="50" charset="0"/>
                <a:cs typeface="Arial" pitchFamily="34" charset="0"/>
                <a:sym typeface="Wingdings" panose="05000000000000000000" pitchFamily="2" charset="2"/>
              </a:rPr>
              <a:t> Immediate payoff</a:t>
            </a:r>
            <a:endParaRPr lang="en-US" sz="2200" b="1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pic>
        <p:nvPicPr>
          <p:cNvPr id="68" name="Graphic 67" descr="Lights On with solid fill">
            <a:extLst>
              <a:ext uri="{FF2B5EF4-FFF2-40B4-BE49-F238E27FC236}">
                <a16:creationId xmlns:a16="http://schemas.microsoft.com/office/drawing/2014/main" id="{A8B76FC7-8945-8457-778B-EE8E0F616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45868" y="8551352"/>
            <a:ext cx="1681624" cy="1681624"/>
          </a:xfrm>
          <a:prstGeom prst="rect">
            <a:avLst/>
          </a:prstGeom>
        </p:spPr>
      </p:pic>
      <p:sp>
        <p:nvSpPr>
          <p:cNvPr id="69" name="TextBox 19">
            <a:extLst>
              <a:ext uri="{FF2B5EF4-FFF2-40B4-BE49-F238E27FC236}">
                <a16:creationId xmlns:a16="http://schemas.microsoft.com/office/drawing/2014/main" id="{1475E8A2-8B21-92C2-E358-3F223750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2114" y="10225729"/>
            <a:ext cx="194944" cy="378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  <a:sym typeface="Wingdings" panose="05000000000000000000" pitchFamily="2" charset="2"/>
              </a:rPr>
              <a:t>|</a:t>
            </a:r>
            <a:endParaRPr lang="en-US" sz="2000" b="1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D165146-EAC8-0365-0FB7-2A7299217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910" y="10969715"/>
            <a:ext cx="9596389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PIPELINE</a:t>
            </a:r>
          </a:p>
        </p:txBody>
      </p:sp>
      <p:sp>
        <p:nvSpPr>
          <p:cNvPr id="72" name="TextBox 19">
            <a:extLst>
              <a:ext uri="{FF2B5EF4-FFF2-40B4-BE49-F238E27FC236}">
                <a16:creationId xmlns:a16="http://schemas.microsoft.com/office/drawing/2014/main" id="{6B744862-5417-5381-7D05-19142BCC4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808" y="13021787"/>
            <a:ext cx="1721514" cy="653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600" b="1" dirty="0">
                <a:latin typeface="Montserrat Light" panose="00000400000000000000" pitchFamily="50" charset="0"/>
                <a:cs typeface="Arial" pitchFamily="34" charset="0"/>
              </a:rPr>
              <a:t>Fetch </a:t>
            </a: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Market</a:t>
            </a:r>
            <a:r>
              <a:rPr lang="en-US" sz="1600" b="1" dirty="0">
                <a:latin typeface="Montserrat Light" panose="00000400000000000000" pitchFamily="50" charset="0"/>
                <a:cs typeface="Arial" pitchFamily="34" charset="0"/>
              </a:rPr>
              <a:t> Data</a:t>
            </a: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A85812F-71EE-6026-0822-3C7E597F3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2958" y="12989539"/>
            <a:ext cx="1721514" cy="71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Estimate Volatility</a:t>
            </a:r>
          </a:p>
        </p:txBody>
      </p:sp>
      <p:sp>
        <p:nvSpPr>
          <p:cNvPr id="74" name="TextBox 19">
            <a:extLst>
              <a:ext uri="{FF2B5EF4-FFF2-40B4-BE49-F238E27FC236}">
                <a16:creationId xmlns:a16="http://schemas.microsoft.com/office/drawing/2014/main" id="{55A457D5-B436-13E5-C241-FA4EC8ED4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8683" y="12988278"/>
            <a:ext cx="1721514" cy="64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1600" b="1" dirty="0">
                <a:latin typeface="Montserrat Light" panose="00000400000000000000" pitchFamily="50" charset="0"/>
                <a:cs typeface="Arial" pitchFamily="34" charset="0"/>
              </a:rPr>
              <a:t>Build </a:t>
            </a: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Binomial</a:t>
            </a:r>
            <a:r>
              <a:rPr lang="en-US" sz="1600" b="1" dirty="0">
                <a:latin typeface="Montserrat Light" panose="00000400000000000000" pitchFamily="50" charset="0"/>
                <a:cs typeface="Arial" pitchFamily="34" charset="0"/>
              </a:rPr>
              <a:t> Tree</a:t>
            </a:r>
          </a:p>
        </p:txBody>
      </p:sp>
      <p:sp>
        <p:nvSpPr>
          <p:cNvPr id="75" name="TextBox 19">
            <a:extLst>
              <a:ext uri="{FF2B5EF4-FFF2-40B4-BE49-F238E27FC236}">
                <a16:creationId xmlns:a16="http://schemas.microsoft.com/office/drawing/2014/main" id="{8D68D169-6F03-D0C6-C755-F3A3F8BFF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7024" y="13021787"/>
            <a:ext cx="1721514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Compute</a:t>
            </a: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Option Value</a:t>
            </a:r>
          </a:p>
        </p:txBody>
      </p:sp>
      <p:sp>
        <p:nvSpPr>
          <p:cNvPr id="76" name="TextBox 19">
            <a:extLst>
              <a:ext uri="{FF2B5EF4-FFF2-40B4-BE49-F238E27FC236}">
                <a16:creationId xmlns:a16="http://schemas.microsoft.com/office/drawing/2014/main" id="{B1A3A3ED-750B-0BCF-B6AC-2A904A971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12726" y="12988278"/>
            <a:ext cx="1721514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Run Scenario Analysis</a:t>
            </a:r>
          </a:p>
        </p:txBody>
      </p:sp>
      <p:sp>
        <p:nvSpPr>
          <p:cNvPr id="77" name="TextBox 19">
            <a:extLst>
              <a:ext uri="{FF2B5EF4-FFF2-40B4-BE49-F238E27FC236}">
                <a16:creationId xmlns:a16="http://schemas.microsoft.com/office/drawing/2014/main" id="{FBD6CD92-FC24-9E87-3CE0-0C8980C74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54385" y="13021748"/>
            <a:ext cx="1721514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Compare vs. </a:t>
            </a: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Black-Scholes</a:t>
            </a: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48186AD0-F2E0-218E-816A-7A07E2A3D6B0}"/>
              </a:ext>
            </a:extLst>
          </p:cNvPr>
          <p:cNvSpPr/>
          <p:nvPr/>
        </p:nvSpPr>
        <p:spPr bwMode="auto">
          <a:xfrm>
            <a:off x="8020448" y="12318965"/>
            <a:ext cx="427779" cy="27208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Arrow: Right 82">
            <a:extLst>
              <a:ext uri="{FF2B5EF4-FFF2-40B4-BE49-F238E27FC236}">
                <a16:creationId xmlns:a16="http://schemas.microsoft.com/office/drawing/2014/main" id="{8000EAC0-5B9E-0FFA-E375-6F6879B30332}"/>
              </a:ext>
            </a:extLst>
          </p:cNvPr>
          <p:cNvSpPr/>
          <p:nvPr/>
        </p:nvSpPr>
        <p:spPr bwMode="auto">
          <a:xfrm>
            <a:off x="9547948" y="12318965"/>
            <a:ext cx="427779" cy="27208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3474AF34-212F-E2D2-5748-5AA25C6F69C7}"/>
              </a:ext>
            </a:extLst>
          </p:cNvPr>
          <p:cNvSpPr/>
          <p:nvPr/>
        </p:nvSpPr>
        <p:spPr bwMode="auto">
          <a:xfrm>
            <a:off x="11229949" y="12298849"/>
            <a:ext cx="427779" cy="27208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DF49EA09-E4BD-7818-C8FA-544BD6DF22E9}"/>
              </a:ext>
            </a:extLst>
          </p:cNvPr>
          <p:cNvSpPr/>
          <p:nvPr/>
        </p:nvSpPr>
        <p:spPr bwMode="auto">
          <a:xfrm>
            <a:off x="12911950" y="12278733"/>
            <a:ext cx="427779" cy="27208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FFD7F885-36E3-FBBC-9B42-430B6CFA58B3}"/>
              </a:ext>
            </a:extLst>
          </p:cNvPr>
          <p:cNvSpPr/>
          <p:nvPr/>
        </p:nvSpPr>
        <p:spPr bwMode="auto">
          <a:xfrm>
            <a:off x="14508804" y="12258989"/>
            <a:ext cx="427779" cy="27208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6AD7B308-6189-3250-D87C-E783ACFF078B}"/>
              </a:ext>
            </a:extLst>
          </p:cNvPr>
          <p:cNvSpPr/>
          <p:nvPr/>
        </p:nvSpPr>
        <p:spPr bwMode="auto">
          <a:xfrm>
            <a:off x="5920471" y="14275294"/>
            <a:ext cx="10860494" cy="52775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8" name="TextBox 19">
            <a:extLst>
              <a:ext uri="{FF2B5EF4-FFF2-40B4-BE49-F238E27FC236}">
                <a16:creationId xmlns:a16="http://schemas.microsoft.com/office/drawing/2014/main" id="{9B47501F-EC2C-374F-3697-4653D13F8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3297" y="16272804"/>
            <a:ext cx="3556537" cy="71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As the number of steps (N)</a:t>
            </a:r>
          </a:p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Increases:</a:t>
            </a: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E28C71D7-AA46-ADDA-5E57-E9A7C221C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5395" y="14843063"/>
            <a:ext cx="3004709" cy="859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b="1" dirty="0">
                <a:latin typeface="Montserrat Light" panose="00000400000000000000" pitchFamily="50" charset="0"/>
                <a:cs typeface="Arial" pitchFamily="34" charset="0"/>
              </a:rPr>
              <a:t>CONVERGENCE INSIGHT</a:t>
            </a:r>
          </a:p>
        </p:txBody>
      </p:sp>
      <p:sp>
        <p:nvSpPr>
          <p:cNvPr id="90" name="TextBox 19">
            <a:extLst>
              <a:ext uri="{FF2B5EF4-FFF2-40B4-BE49-F238E27FC236}">
                <a16:creationId xmlns:a16="http://schemas.microsoft.com/office/drawing/2014/main" id="{6E94ED45-6B20-167E-03EC-EF0AF1186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1121" y="17230930"/>
            <a:ext cx="3119784" cy="725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Binomial price 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  <a:sym typeface="Wingdings" panose="05000000000000000000" pitchFamily="2" charset="2"/>
              </a:rPr>
              <a:t> Black-Scholes price</a:t>
            </a:r>
            <a:endParaRPr lang="en-US" sz="2000" b="1" dirty="0">
              <a:latin typeface="Montserrat Light" panose="00000400000000000000" pitchFamily="50" charset="0"/>
              <a:cs typeface="Arial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0360EB-ACF5-B22F-1660-59157430C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092" y="14325456"/>
            <a:ext cx="7241830" cy="5179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Rectangle 91">
            <a:extLst>
              <a:ext uri="{FF2B5EF4-FFF2-40B4-BE49-F238E27FC236}">
                <a16:creationId xmlns:a16="http://schemas.microsoft.com/office/drawing/2014/main" id="{DB129277-E58E-EF81-164D-0F1500173AAE}"/>
              </a:ext>
            </a:extLst>
          </p:cNvPr>
          <p:cNvSpPr/>
          <p:nvPr/>
        </p:nvSpPr>
        <p:spPr bwMode="auto">
          <a:xfrm>
            <a:off x="18640896" y="6007887"/>
            <a:ext cx="5209703" cy="4294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TextBox 19">
            <a:extLst>
              <a:ext uri="{FF2B5EF4-FFF2-40B4-BE49-F238E27FC236}">
                <a16:creationId xmlns:a16="http://schemas.microsoft.com/office/drawing/2014/main" id="{D5D04BE5-13BA-1A0E-B183-8745D9C8C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8164" y="5979215"/>
            <a:ext cx="4362450" cy="48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700" b="1" dirty="0">
                <a:latin typeface="Montserrat Light" panose="00000400000000000000" pitchFamily="50" charset="0"/>
                <a:cs typeface="Arial" pitchFamily="34" charset="0"/>
              </a:rPr>
              <a:t>1. Pricing Comparison</a:t>
            </a:r>
          </a:p>
        </p:txBody>
      </p:sp>
      <p:sp>
        <p:nvSpPr>
          <p:cNvPr id="94" name="TextBox 19">
            <a:extLst>
              <a:ext uri="{FF2B5EF4-FFF2-40B4-BE49-F238E27FC236}">
                <a16:creationId xmlns:a16="http://schemas.microsoft.com/office/drawing/2014/main" id="{878E92D1-BD58-597E-006F-05AD19E9C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0897" y="6621826"/>
            <a:ext cx="4538426" cy="1661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 Light" panose="00000400000000000000" pitchFamily="50" charset="0"/>
                <a:cs typeface="Arial" pitchFamily="34" charset="0"/>
              </a:rPr>
              <a:t>Binomial ~ Black-Scholes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 Light" panose="00000400000000000000" pitchFamily="50" charset="0"/>
                <a:cs typeface="Arial" pitchFamily="34" charset="0"/>
              </a:rPr>
              <a:t>Very low error (&lt;1%)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 Light" panose="00000400000000000000" pitchFamily="50" charset="0"/>
                <a:cs typeface="Arial" pitchFamily="34" charset="0"/>
              </a:rPr>
              <a:t>Confirms numerical convergence</a:t>
            </a:r>
          </a:p>
        </p:txBody>
      </p:sp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EC48C07F-0B27-C53B-6E43-F8CA6753F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70871"/>
              </p:ext>
            </p:extLst>
          </p:nvPr>
        </p:nvGraphicFramePr>
        <p:xfrm>
          <a:off x="18640898" y="8285152"/>
          <a:ext cx="13515500" cy="1386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78875">
                  <a:extLst>
                    <a:ext uri="{9D8B030D-6E8A-4147-A177-3AD203B41FA5}">
                      <a16:colId xmlns:a16="http://schemas.microsoft.com/office/drawing/2014/main" val="2090168040"/>
                    </a:ext>
                  </a:extLst>
                </a:gridCol>
                <a:gridCol w="3378875">
                  <a:extLst>
                    <a:ext uri="{9D8B030D-6E8A-4147-A177-3AD203B41FA5}">
                      <a16:colId xmlns:a16="http://schemas.microsoft.com/office/drawing/2014/main" val="636569447"/>
                    </a:ext>
                  </a:extLst>
                </a:gridCol>
                <a:gridCol w="3378875">
                  <a:extLst>
                    <a:ext uri="{9D8B030D-6E8A-4147-A177-3AD203B41FA5}">
                      <a16:colId xmlns:a16="http://schemas.microsoft.com/office/drawing/2014/main" val="2298359725"/>
                    </a:ext>
                  </a:extLst>
                </a:gridCol>
                <a:gridCol w="3378875">
                  <a:extLst>
                    <a:ext uri="{9D8B030D-6E8A-4147-A177-3AD203B41FA5}">
                      <a16:colId xmlns:a16="http://schemas.microsoft.com/office/drawing/2014/main" val="958370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Option Price (USD)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Abs.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% 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2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CRR Binomial (N=100)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5.1187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8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Black-Scholes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5.1056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76139"/>
                  </a:ext>
                </a:extLst>
              </a:tr>
            </a:tbl>
          </a:graphicData>
        </a:graphic>
      </p:graphicFrame>
      <p:sp>
        <p:nvSpPr>
          <p:cNvPr id="104" name="Rectangle 103">
            <a:extLst>
              <a:ext uri="{FF2B5EF4-FFF2-40B4-BE49-F238E27FC236}">
                <a16:creationId xmlns:a16="http://schemas.microsoft.com/office/drawing/2014/main" id="{2CB4CF0C-1084-2BD8-1131-688759720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0400" y="5150119"/>
            <a:ext cx="12224641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73AA9E-C0B5-4871-9E71-7D5B277AA4B2}"/>
              </a:ext>
            </a:extLst>
          </p:cNvPr>
          <p:cNvSpPr/>
          <p:nvPr/>
        </p:nvSpPr>
        <p:spPr bwMode="auto">
          <a:xfrm>
            <a:off x="18640897" y="9770277"/>
            <a:ext cx="5628573" cy="6208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9" name="TextBox 19">
            <a:extLst>
              <a:ext uri="{FF2B5EF4-FFF2-40B4-BE49-F238E27FC236}">
                <a16:creationId xmlns:a16="http://schemas.microsoft.com/office/drawing/2014/main" id="{169C2E8F-151E-FEF8-6CD0-F129881A1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08164" y="9828562"/>
            <a:ext cx="5975835" cy="489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700" b="1" dirty="0">
                <a:latin typeface="Montserrat Light" panose="00000400000000000000" pitchFamily="50" charset="0"/>
                <a:cs typeface="Arial" pitchFamily="34" charset="0"/>
              </a:rPr>
              <a:t>2. Scenario Analysis (Put Option)</a:t>
            </a:r>
          </a:p>
        </p:txBody>
      </p:sp>
      <p:sp>
        <p:nvSpPr>
          <p:cNvPr id="110" name="TextBox 19">
            <a:extLst>
              <a:ext uri="{FF2B5EF4-FFF2-40B4-BE49-F238E27FC236}">
                <a16:creationId xmlns:a16="http://schemas.microsoft.com/office/drawing/2014/main" id="{4A8450A4-251B-8577-4BB4-F2B928F96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0896" y="10536899"/>
            <a:ext cx="6314374" cy="426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300" b="1" dirty="0">
                <a:latin typeface="Montserrat Light" panose="00000400000000000000" pitchFamily="50" charset="0"/>
                <a:cs typeface="Arial" pitchFamily="34" charset="0"/>
              </a:rPr>
              <a:t>Sensitivity: Option Value vs. Stock Price</a:t>
            </a: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ED1143DB-6D5A-088B-7435-F940F5CAD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597981"/>
              </p:ext>
            </p:extLst>
          </p:nvPr>
        </p:nvGraphicFramePr>
        <p:xfrm>
          <a:off x="18516197" y="11102824"/>
          <a:ext cx="11952192" cy="2758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88048">
                  <a:extLst>
                    <a:ext uri="{9D8B030D-6E8A-4147-A177-3AD203B41FA5}">
                      <a16:colId xmlns:a16="http://schemas.microsoft.com/office/drawing/2014/main" val="2090168040"/>
                    </a:ext>
                  </a:extLst>
                </a:gridCol>
                <a:gridCol w="2988048">
                  <a:extLst>
                    <a:ext uri="{9D8B030D-6E8A-4147-A177-3AD203B41FA5}">
                      <a16:colId xmlns:a16="http://schemas.microsoft.com/office/drawing/2014/main" val="636569447"/>
                    </a:ext>
                  </a:extLst>
                </a:gridCol>
                <a:gridCol w="2988048">
                  <a:extLst>
                    <a:ext uri="{9D8B030D-6E8A-4147-A177-3AD203B41FA5}">
                      <a16:colId xmlns:a16="http://schemas.microsoft.com/office/drawing/2014/main" val="2298359725"/>
                    </a:ext>
                  </a:extLst>
                </a:gridCol>
                <a:gridCol w="2988048">
                  <a:extLst>
                    <a:ext uri="{9D8B030D-6E8A-4147-A177-3AD203B41FA5}">
                      <a16:colId xmlns:a16="http://schemas.microsoft.com/office/drawing/2014/main" val="9583709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Spot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500" dirty="0"/>
                        <a:t>Shocked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Binomial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P&amp;L vs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226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88.54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22.5561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8.2813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08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18.1634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3.8786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576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0% (Base)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98.38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14.2849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9577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103.29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10.9339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-3.3509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16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108.21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8.1727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-6.1122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720647"/>
                  </a:ext>
                </a:extLst>
              </a:tr>
            </a:tbl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85DD2189-E705-13C5-EE60-40A3CE407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6537" y="13897567"/>
            <a:ext cx="8426748" cy="577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4" name="TextBox 19">
            <a:extLst>
              <a:ext uri="{FF2B5EF4-FFF2-40B4-BE49-F238E27FC236}">
                <a16:creationId xmlns:a16="http://schemas.microsoft.com/office/drawing/2014/main" id="{42AFCDE8-0D90-4536-99C7-EC9868BF9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78857" y="15044495"/>
            <a:ext cx="6724428" cy="426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Binomial model converges to Black-Scholes.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American options enable early exercise decisions.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Early exercise appears frequently for put options.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Option pricing is nonlinear and path-dependent.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US" sz="2500" dirty="0">
                <a:latin typeface="Montserrat Light" panose="00000400000000000000" pitchFamily="50" charset="0"/>
                <a:cs typeface="Arial" pitchFamily="34" charset="0"/>
              </a:rPr>
              <a:t>Delta provides a direct hedge ratio for risk management.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A84D821-3C7A-24D6-F5BE-79E6F2BD9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9702121"/>
            <a:ext cx="32918400" cy="12537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endParaRPr lang="en-US" sz="2400" b="1" dirty="0">
              <a:solidFill>
                <a:schemeClr val="bg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DB3655B-268C-AEB0-407A-843F7B20B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293" y="20589135"/>
            <a:ext cx="45719" cy="12559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18" name="TextBox 19">
            <a:extLst>
              <a:ext uri="{FF2B5EF4-FFF2-40B4-BE49-F238E27FC236}">
                <a16:creationId xmlns:a16="http://schemas.microsoft.com/office/drawing/2014/main" id="{839C4652-1620-2E6E-6C1A-C26912AFC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1226" y="20091358"/>
            <a:ext cx="4154632" cy="193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200" dirty="0">
                <a:latin typeface="Montserrat Light" panose="00000400000000000000" pitchFamily="50" charset="0"/>
                <a:cs typeface="Arial" pitchFamily="34" charset="0"/>
              </a:rPr>
              <a:t>Example (from Dashboard):</a:t>
            </a:r>
          </a:p>
          <a:p>
            <a:pPr>
              <a:lnSpc>
                <a:spcPct val="110000"/>
              </a:lnSpc>
            </a:pPr>
            <a:endParaRPr lang="en-US" sz="500" dirty="0">
              <a:latin typeface="Montserrat Light" panose="00000400000000000000" pitchFamily="50" charset="0"/>
              <a:cs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Delta = -0.5437</a:t>
            </a:r>
          </a:p>
          <a:p>
            <a:pPr>
              <a:lnSpc>
                <a:spcPct val="110000"/>
              </a:lnSpc>
            </a:pPr>
            <a:endParaRPr lang="en-US" sz="500" b="1" dirty="0">
              <a:latin typeface="Montserrat Light" panose="00000400000000000000" pitchFamily="50" charset="0"/>
              <a:cs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Shares to Hedge = -54.37 shares</a:t>
            </a:r>
          </a:p>
          <a:p>
            <a:pPr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(Short position to hedge a long put)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9622A1B-E91D-A033-491A-703199036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513" y="20515026"/>
            <a:ext cx="4193702" cy="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EF1FE18-47E4-7C21-BB6F-5D4E8462A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6163" y="19931424"/>
            <a:ext cx="45719" cy="19546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2F9EB99-56F7-2DAD-6695-975DC12B0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8086" y="19945869"/>
            <a:ext cx="5457714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Limitations</a:t>
            </a:r>
          </a:p>
        </p:txBody>
      </p:sp>
      <p:sp>
        <p:nvSpPr>
          <p:cNvPr id="122" name="TextBox 19">
            <a:extLst>
              <a:ext uri="{FF2B5EF4-FFF2-40B4-BE49-F238E27FC236}">
                <a16:creationId xmlns:a16="http://schemas.microsoft.com/office/drawing/2014/main" id="{0663F678-FCBF-9E6D-56B0-9AFF60B47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60692" y="20571425"/>
            <a:ext cx="5618439" cy="13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Montserrat Light" panose="00000400000000000000" pitchFamily="50" charset="0"/>
                <a:cs typeface="Arial" pitchFamily="34" charset="0"/>
              </a:rPr>
              <a:t>Uses Historical Volatility (not implied volatility)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Montserrat Light" panose="00000400000000000000" pitchFamily="50" charset="0"/>
                <a:cs typeface="Arial" pitchFamily="34" charset="0"/>
              </a:rPr>
              <a:t>Black-Scholes Assumes European Exercise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Montserrat Light" panose="00000400000000000000" pitchFamily="50" charset="0"/>
                <a:cs typeface="Arial" pitchFamily="34" charset="0"/>
              </a:rPr>
              <a:t>Simplified Market Assumptions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737CE36-AED8-C195-250F-01DF19F9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88200" y="19890369"/>
            <a:ext cx="45719" cy="19546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1DF5E5E-2AB3-1E67-BAE8-013B54115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6800" y="19976572"/>
            <a:ext cx="9448800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24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REFERENCES &amp; RESOURCES</a:t>
            </a:r>
          </a:p>
        </p:txBody>
      </p:sp>
      <p:sp>
        <p:nvSpPr>
          <p:cNvPr id="125" name="TextBox 19">
            <a:extLst>
              <a:ext uri="{FF2B5EF4-FFF2-40B4-BE49-F238E27FC236}">
                <a16:creationId xmlns:a16="http://schemas.microsoft.com/office/drawing/2014/main" id="{E6ECAEE7-E009-F8E5-6B72-EC26540B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4400" y="20558774"/>
            <a:ext cx="6629400" cy="12612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 Light" panose="00000400000000000000" pitchFamily="50" charset="0"/>
                <a:cs typeface="Arial" pitchFamily="34" charset="0"/>
              </a:rPr>
              <a:t>Black, F. &amp; Scholes, M. (1973). The Pricing of Options and corporate Liabilities. Journal of Political Economy.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 Light" panose="00000400000000000000" pitchFamily="50" charset="0"/>
                <a:cs typeface="Arial" pitchFamily="34" charset="0"/>
              </a:rPr>
              <a:t>Cox, J., Ross, S., &amp; Rubinstein, M, (1979), Option Pricing: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 Light" panose="00000400000000000000" pitchFamily="50" charset="0"/>
                <a:cs typeface="Arial" pitchFamily="34" charset="0"/>
              </a:rPr>
              <a:t>A Simplified Approach. Journal of Financial Economics.</a:t>
            </a:r>
          </a:p>
        </p:txBody>
      </p:sp>
      <p:sp>
        <p:nvSpPr>
          <p:cNvPr id="126" name="TextBox 19">
            <a:extLst>
              <a:ext uri="{FF2B5EF4-FFF2-40B4-BE49-F238E27FC236}">
                <a16:creationId xmlns:a16="http://schemas.microsoft.com/office/drawing/2014/main" id="{BB49C784-C828-D97D-C9A2-64783941F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0" y="20776897"/>
            <a:ext cx="2942748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Yahoo Finance API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FRED Economic Data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9ACD2B04-C660-0C10-9A00-847ED06D0D4D}"/>
              </a:ext>
            </a:extLst>
          </p:cNvPr>
          <p:cNvSpPr/>
          <p:nvPr/>
        </p:nvSpPr>
        <p:spPr bwMode="auto">
          <a:xfrm>
            <a:off x="29641800" y="19866812"/>
            <a:ext cx="3276600" cy="2075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37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30" name="TextBox 19">
            <a:extLst>
              <a:ext uri="{FF2B5EF4-FFF2-40B4-BE49-F238E27FC236}">
                <a16:creationId xmlns:a16="http://schemas.microsoft.com/office/drawing/2014/main" id="{0F0A833C-B841-60C5-2C89-50A0F5951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16400" y="20945216"/>
            <a:ext cx="3244628" cy="105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latin typeface="Montserrat Light" panose="00000400000000000000" pitchFamily="50" charset="0"/>
                <a:cs typeface="Arial" pitchFamily="34" charset="0"/>
              </a:rPr>
              <a:t>https://github.com/Tigranasouras/PricingFinancialOptionsBT-BS</a:t>
            </a:r>
          </a:p>
        </p:txBody>
      </p:sp>
      <p:sp>
        <p:nvSpPr>
          <p:cNvPr id="1031" name="TextBox 19">
            <a:extLst>
              <a:ext uri="{FF2B5EF4-FFF2-40B4-BE49-F238E27FC236}">
                <a16:creationId xmlns:a16="http://schemas.microsoft.com/office/drawing/2014/main" id="{59EB957C-7348-C7A7-1397-419F7F24A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9900" y="20063946"/>
            <a:ext cx="1771428" cy="71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945" tIns="30473" rIns="60945" bIns="30473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VIEW</a:t>
            </a:r>
          </a:p>
          <a:p>
            <a:pPr algn="ctr">
              <a:lnSpc>
                <a:spcPct val="110000"/>
              </a:lnSpc>
            </a:pPr>
            <a:r>
              <a:rPr lang="en-US" sz="2000" b="1" dirty="0">
                <a:latin typeface="Montserrat Light" panose="00000400000000000000" pitchFamily="50" charset="0"/>
                <a:cs typeface="Arial" pitchFamily="34" charset="0"/>
              </a:rPr>
              <a:t> PROJECT</a:t>
            </a: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BF7DF066-CBB6-E312-B142-1D4FCE51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97687" y="14385719"/>
            <a:ext cx="6848726" cy="58220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miter lim="800000"/>
          </a:ln>
        </p:spPr>
        <p:txBody>
          <a:bodyPr wrap="none" lIns="182880" tIns="48768" rIns="182880" bIns="45709" anchor="ctr" anchorCtr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9pPr>
          </a:lstStyle>
          <a:p>
            <a:pPr defTabSz="3135215">
              <a:defRPr/>
            </a:pPr>
            <a:r>
              <a:rPr lang="en-US" sz="3200" b="1" dirty="0">
                <a:solidFill>
                  <a:schemeClr val="bg1"/>
                </a:solidFill>
                <a:latin typeface="Libre Baskerville" panose="02000000000000000000" pitchFamily="2" charset="0"/>
              </a:rPr>
              <a:t>Key Takeaways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493E6-5195-62D3-1A7B-5097BB3D600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400" y="19938971"/>
            <a:ext cx="1066801" cy="1066801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intellectualsage|08-2022"/>
</p:tagLst>
</file>

<file path=ppt/theme/theme1.xml><?xml version="1.0" encoding="utf-8"?>
<a:theme xmlns:a="http://schemas.openxmlformats.org/drawingml/2006/main" name="Default Desig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37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569</Words>
  <Application>Microsoft Office PowerPoint</Application>
  <PresentationFormat>Custom</PresentationFormat>
  <Paragraphs>128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Libre Baskerville</vt:lpstr>
      <vt:lpstr>Montserrat Light</vt:lpstr>
      <vt:lpstr>Wingdings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to make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Daron Baltazar</cp:lastModifiedBy>
  <cp:revision>42</cp:revision>
  <dcterms:modified xsi:type="dcterms:W3CDTF">2026-04-21T20:43:59Z</dcterms:modified>
  <cp:category>templates for scientific poster</cp:category>
</cp:coreProperties>
</file>